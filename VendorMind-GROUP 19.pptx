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22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4348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554480" y="5212080"/>
            <a:ext cx="3840480" cy="3840480"/>
          </a:xfrm>
          <a:prstGeom prst="ellipse">
            <a:avLst/>
          </a:prstGeom>
          <a:solidFill>
            <a:srgbClr val="15194A"/>
          </a:solidFill>
          <a:ln/>
        </p:spPr>
      </p:sp>
      <p:sp>
        <p:nvSpPr>
          <p:cNvPr id="4" name="Shape 2"/>
          <p:cNvSpPr/>
          <p:nvPr/>
        </p:nvSpPr>
        <p:spPr>
          <a:xfrm>
            <a:off x="2787063" y="-1645920"/>
            <a:ext cx="3291840" cy="3291840"/>
          </a:xfrm>
          <a:prstGeom prst="ellipse">
            <a:avLst/>
          </a:prstGeom>
          <a:solidFill>
            <a:srgbClr val="15194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685800"/>
            <a:ext cx="914400" cy="9144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icons/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804672"/>
            <a:ext cx="676656" cy="676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8288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PROCUREMENT &amp;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NEGOTIATION SYSTEM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8368" y="245059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VendorMind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85800" y="340156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scouts vendors, runs outreach, and negotiates on your behalf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4434840"/>
            <a:ext cx="3200400" cy="402336"/>
          </a:xfrm>
          <a:prstGeom prst="roundRect">
            <a:avLst>
              <a:gd name="adj" fmla="val 50000"/>
            </a:avLst>
          </a:prstGeom>
          <a:solidFill>
            <a:srgbClr val="15194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443484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Operations · E-Commerce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760720" y="91085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5303520" y="16002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1" descr="icons/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2956" y="1659636"/>
            <a:ext cx="338328" cy="33832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925312" y="158191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NUMBER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925312" y="2167128"/>
            <a:ext cx="5303520" cy="0"/>
          </a:xfrm>
          <a:prstGeom prst="line">
            <a:avLst/>
          </a:prstGeom>
          <a:noFill/>
          <a:ln w="15875">
            <a:solidFill>
              <a:srgbClr val="D7DCE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303520" y="25603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2" descr="icon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2956" y="2619756"/>
            <a:ext cx="338328" cy="33832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925312" y="25420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 (TL)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925312" y="3127248"/>
            <a:ext cx="5303520" cy="0"/>
          </a:xfrm>
          <a:prstGeom prst="line">
            <a:avLst/>
          </a:prstGeom>
          <a:noFill/>
          <a:ln w="15875">
            <a:solidFill>
              <a:srgbClr val="D7DCE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303520" y="35204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4" name="Image 3" descr="icons/rob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2956" y="3579876"/>
            <a:ext cx="338328" cy="33832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925312" y="35021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5925312" y="4153617"/>
            <a:ext cx="5303520" cy="0"/>
          </a:xfrm>
          <a:prstGeom prst="line">
            <a:avLst/>
          </a:prstGeom>
          <a:noFill/>
          <a:ln w="15875">
            <a:solidFill>
              <a:srgbClr val="D7DCEF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925312" y="4530014"/>
            <a:ext cx="5303520" cy="0"/>
          </a:xfrm>
          <a:prstGeom prst="line">
            <a:avLst/>
          </a:prstGeom>
          <a:noFill/>
          <a:ln w="15875">
            <a:solidFill>
              <a:srgbClr val="D7DCEF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925312" y="4917238"/>
            <a:ext cx="5303520" cy="0"/>
          </a:xfrm>
          <a:prstGeom prst="line">
            <a:avLst/>
          </a:prstGeom>
          <a:noFill/>
          <a:ln w="15875">
            <a:solidFill>
              <a:srgbClr val="D7DCEF"/>
            </a:solidFill>
            <a:prstDash val="solid"/>
          </a:ln>
        </p:spPr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D7A94B-A45B-FD7E-B169-D7CBF0D9E457}"/>
              </a:ext>
            </a:extLst>
          </p:cNvPr>
          <p:cNvSpPr txBox="1"/>
          <p:nvPr/>
        </p:nvSpPr>
        <p:spPr>
          <a:xfrm>
            <a:off x="5925312" y="1856232"/>
            <a:ext cx="1343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</a:t>
            </a:r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FE6CE8-52E6-4300-9CAA-C78D1D1381B4}"/>
              </a:ext>
            </a:extLst>
          </p:cNvPr>
          <p:cNvSpPr txBox="1"/>
          <p:nvPr/>
        </p:nvSpPr>
        <p:spPr>
          <a:xfrm>
            <a:off x="5845812" y="3864339"/>
            <a:ext cx="207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VEDANTI UGHADE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D1537B-179A-44D4-41D1-19CA7FE15964}"/>
              </a:ext>
            </a:extLst>
          </p:cNvPr>
          <p:cNvSpPr txBox="1"/>
          <p:nvPr/>
        </p:nvSpPr>
        <p:spPr>
          <a:xfrm>
            <a:off x="5820156" y="2821923"/>
            <a:ext cx="2080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DEVENDRA SHROTE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B41561-181C-EACD-B300-F087037D7335}"/>
              </a:ext>
            </a:extLst>
          </p:cNvPr>
          <p:cNvSpPr txBox="1"/>
          <p:nvPr/>
        </p:nvSpPr>
        <p:spPr>
          <a:xfrm>
            <a:off x="5855141" y="4229247"/>
            <a:ext cx="207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SAMRUDDHI TONG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902B736-6077-DAD2-3828-5BCBD1F88599}"/>
              </a:ext>
            </a:extLst>
          </p:cNvPr>
          <p:cNvSpPr txBox="1"/>
          <p:nvPr/>
        </p:nvSpPr>
        <p:spPr>
          <a:xfrm>
            <a:off x="5873804" y="4621022"/>
            <a:ext cx="207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KHUSHI THOOL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234440" y="4389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34440" y="98755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procurement still runs on spreadsheets and email threads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035040" cy="4617720"/>
          </a:xfrm>
          <a:prstGeom prst="roundRect">
            <a:avLst>
              <a:gd name="adj" fmla="val 1584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4708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businesses and IT departments lose days comparing software vendors, decoding contract terms, and chasing custom quotes over slow, manual email back-and-forth.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68680" y="3310128"/>
            <a:ext cx="5394960" cy="0"/>
          </a:xfrm>
          <a:prstGeom prst="line">
            <a:avLst/>
          </a:prstGeom>
          <a:noFill/>
          <a:ln w="12700">
            <a:solidFill>
              <a:srgbClr val="2E38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520440"/>
            <a:ext cx="512064" cy="512064"/>
          </a:xfrm>
          <a:prstGeom prst="ellipse">
            <a:avLst/>
          </a:prstGeom>
          <a:solidFill>
            <a:srgbClr val="2E3878"/>
          </a:solidFill>
          <a:ln/>
        </p:spPr>
      </p:sp>
      <p:pic>
        <p:nvPicPr>
          <p:cNvPr id="10" name="Image 0" descr="icons/buil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48" y="3587008"/>
            <a:ext cx="378927" cy="37892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36192" y="34930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FACES IT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536192" y="3739896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owners, IT &amp; procurement teams sourcing SaaS and vendor contracts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8680" y="4306824"/>
            <a:ext cx="512064" cy="512064"/>
          </a:xfrm>
          <a:prstGeom prst="ellipse">
            <a:avLst/>
          </a:prstGeom>
          <a:solidFill>
            <a:srgbClr val="2E3878"/>
          </a:solidFill>
          <a:ln/>
        </p:spPr>
      </p:sp>
      <p:pic>
        <p:nvPicPr>
          <p:cNvPr id="14" name="Image 1" descr="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248" y="4373392"/>
            <a:ext cx="378927" cy="37892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36192" y="427939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OCCURS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536192" y="45262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discovery, quote requests, and contract renewal cycles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68680" y="5093208"/>
            <a:ext cx="512064" cy="512064"/>
          </a:xfrm>
          <a:prstGeom prst="ellipse">
            <a:avLst/>
          </a:prstGeom>
          <a:solidFill>
            <a:srgbClr val="2E3878"/>
          </a:solidFill>
          <a:ln/>
        </p:spPr>
      </p:sp>
      <p:pic>
        <p:nvPicPr>
          <p:cNvPr id="18" name="Image 2" descr="icons/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248" y="5159776"/>
            <a:ext cx="378927" cy="37892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36192" y="50657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 POINT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536192" y="531266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lost per negotiation, inconsistent leverage, missed better deals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858000" y="1600200"/>
            <a:ext cx="4754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5E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178040" y="17830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~40%</a:t>
            </a:r>
            <a:endParaRPr lang="en-US" sz="5200" dirty="0"/>
          </a:p>
        </p:txBody>
      </p:sp>
      <p:sp>
        <p:nvSpPr>
          <p:cNvPr id="23" name="Text 18"/>
          <p:cNvSpPr/>
          <p:nvPr/>
        </p:nvSpPr>
        <p:spPr>
          <a:xfrm>
            <a:off x="7178040" y="26974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average SaaS procurement time is spent on manual vendor comparison and quote chasing rather than decision-making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858000" y="3950208"/>
            <a:ext cx="4754880" cy="226771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5E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178040" y="4187952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6" name="Image 3" descr="icons/exch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1741" y="4261653"/>
            <a:ext cx="419527" cy="419527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909560" y="4206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chatbot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7178040" y="470916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 is the back-and-forth itself: real vendors, real inboxes, real counter-offers. It calls for an agent that can act across many independent steps, not answer a single question.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234440" y="43891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Chose This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3444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behind VendorMind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014984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E5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562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icons/dol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41" y="1929933"/>
            <a:ext cx="419527" cy="41952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178308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041648" y="1856232"/>
            <a:ext cx="0" cy="566928"/>
          </a:xfrm>
          <a:prstGeom prst="line">
            <a:avLst/>
          </a:prstGeom>
          <a:noFill/>
          <a:ln w="12700">
            <a:solidFill>
              <a:srgbClr val="E3E5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51960" y="1783080"/>
            <a:ext cx="6263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delays directly cost money — slower deals mean lost discount windows and weaker negotiating leverage.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2734056"/>
            <a:ext cx="1014984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E5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289864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3" name="Image 1" descr="icons/buil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41" y="2972349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72768" y="2825496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4041648" y="2898648"/>
            <a:ext cx="0" cy="566928"/>
          </a:xfrm>
          <a:prstGeom prst="line">
            <a:avLst/>
          </a:prstGeom>
          <a:noFill/>
          <a:ln w="12700">
            <a:solidFill>
              <a:srgbClr val="E3E5E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251960" y="2825496"/>
            <a:ext cx="6263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SMBs without dedicated procurement staff, and IT/ops teams juggling too many vendor relationships to negotiate each one well.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48640" y="3776472"/>
            <a:ext cx="1014984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E5E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77240" y="394106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icons/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41" y="4014765"/>
            <a:ext cx="419527" cy="41952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72768" y="3867912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agent fits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4041648" y="3941064"/>
            <a:ext cx="0" cy="566928"/>
          </a:xfrm>
          <a:prstGeom prst="line">
            <a:avLst/>
          </a:prstGeom>
          <a:noFill/>
          <a:ln w="12700">
            <a:solidFill>
              <a:srgbClr val="E3E5E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251960" y="3867912"/>
            <a:ext cx="6263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is asynchronous and multi-turn — ingesting requirements, contacting vendors, and negotiating over days, not one prompt.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548640" y="4818888"/>
            <a:ext cx="1014984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E5E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77240" y="498348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5" name="Image 3" descr="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941" y="5057181"/>
            <a:ext cx="419527" cy="41952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72768" y="491032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different</a:t>
            </a:r>
            <a:endParaRPr lang="en-US" sz="1450" dirty="0"/>
          </a:p>
        </p:txBody>
      </p:sp>
      <p:sp>
        <p:nvSpPr>
          <p:cNvPr id="27" name="Shape 21"/>
          <p:cNvSpPr/>
          <p:nvPr/>
        </p:nvSpPr>
        <p:spPr>
          <a:xfrm>
            <a:off x="4041648" y="4983480"/>
            <a:ext cx="0" cy="566928"/>
          </a:xfrm>
          <a:prstGeom prst="line">
            <a:avLst/>
          </a:prstGeom>
          <a:noFill/>
          <a:ln w="12700">
            <a:solidFill>
              <a:srgbClr val="E3E5E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251960" y="4910328"/>
            <a:ext cx="6263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VendorMind closes the full loop: research, outreach, comparison, and counter-offer drafting — end to end, not a single feature.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548640" y="5861304"/>
            <a:ext cx="1014984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E5EF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77240" y="60258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4" descr="icons/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941" y="6099597"/>
            <a:ext cx="419527" cy="419527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572768" y="5952744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450" dirty="0"/>
          </a:p>
        </p:txBody>
      </p:sp>
      <p:sp>
        <p:nvSpPr>
          <p:cNvPr id="33" name="Shape 26"/>
          <p:cNvSpPr/>
          <p:nvPr/>
        </p:nvSpPr>
        <p:spPr>
          <a:xfrm>
            <a:off x="4041648" y="6025896"/>
            <a:ext cx="0" cy="566928"/>
          </a:xfrm>
          <a:prstGeom prst="line">
            <a:avLst/>
          </a:prstGeom>
          <a:noFill/>
          <a:ln w="12700">
            <a:solidFill>
              <a:srgbClr val="E3E5EF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4251960" y="5952744"/>
            <a:ext cx="6263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manual quote-chasing collapse into an automated pipeline, with consistently better terms at the end of it.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5029200"/>
            <a:ext cx="4206240" cy="4206240"/>
          </a:xfrm>
          <a:prstGeom prst="ellipse">
            <a:avLst/>
          </a:prstGeom>
          <a:solidFill>
            <a:srgbClr val="1519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29260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Market Cost Breakdown (in ₹)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43000" y="8046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monthly cost to build and operate VendorMind at production scale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11155680" cy="420624"/>
          </a:xfrm>
          <a:prstGeom prst="roundRect">
            <a:avLst>
              <a:gd name="adj" fmla="val 13043"/>
            </a:avLst>
          </a:prstGeom>
          <a:solidFill>
            <a:srgbClr val="15194A"/>
          </a:solidFill>
          <a:ln/>
        </p:spPr>
      </p:sp>
      <p:sp>
        <p:nvSpPr>
          <p:cNvPr id="7" name="Text 5"/>
          <p:cNvSpPr/>
          <p:nvPr/>
        </p:nvSpPr>
        <p:spPr>
          <a:xfrm>
            <a:off x="941832" y="129844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73552" y="1298448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/ Tool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336792" y="129844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Cost (INR/mo)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302752" y="1298448"/>
            <a:ext cx="3355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1719072"/>
            <a:ext cx="11155680" cy="658368"/>
          </a:xfrm>
          <a:prstGeom prst="rect">
            <a:avLst/>
          </a:prstGeom>
          <a:solidFill>
            <a:srgbClr val="242C6E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847088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3" name="Image 0" descr="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64" y="1899392"/>
            <a:ext cx="297729" cy="29772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97280" y="1719072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273552" y="1719072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(GPT-4o / GPT-4o-mini)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336792" y="171907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~₹2,850 / mo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302752" y="1719072"/>
            <a:ext cx="3310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~50 complete negotiation workflows (~₹55 per deal)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" y="2377440"/>
            <a:ext cx="1115568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Shape 16"/>
          <p:cNvSpPr/>
          <p:nvPr/>
        </p:nvSpPr>
        <p:spPr>
          <a:xfrm>
            <a:off x="594360" y="2505456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0" name="Image 1" descr="icons/envelo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664" y="2557760"/>
            <a:ext cx="297729" cy="297729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097280" y="237744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Orchestration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273552" y="237744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SendGrid API / Resend API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336792" y="237744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/ ~₹1,400 / mo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8302752" y="2377440"/>
            <a:ext cx="3310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vendor outreach &amp; email tracking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02920" y="3035808"/>
            <a:ext cx="11155680" cy="658368"/>
          </a:xfrm>
          <a:prstGeom prst="rect">
            <a:avLst/>
          </a:prstGeom>
          <a:solidFill>
            <a:srgbClr val="242C6E"/>
          </a:solidFill>
          <a:ln/>
        </p:spPr>
      </p:sp>
      <p:sp>
        <p:nvSpPr>
          <p:cNvPr id="26" name="Shape 22"/>
          <p:cNvSpPr/>
          <p:nvPr/>
        </p:nvSpPr>
        <p:spPr>
          <a:xfrm>
            <a:off x="594360" y="3163824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7" name="Image 2" descr="icons/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664" y="3216128"/>
            <a:ext cx="297729" cy="297729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097280" y="301752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&amp; Search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3273552" y="303580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Search / Firecrawl API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336792" y="303580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/ ~₹1,500 / mo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8302752" y="3035808"/>
            <a:ext cx="3310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vendor features &amp; public pricing tiers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502920" y="3694176"/>
            <a:ext cx="1115568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Shape 28"/>
          <p:cNvSpPr/>
          <p:nvPr/>
        </p:nvSpPr>
        <p:spPr>
          <a:xfrm>
            <a:off x="594360" y="3822192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4" name="Image 3" descr="icons/ser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664" y="3874496"/>
            <a:ext cx="297729" cy="297729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097280" y="3675888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Hosting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3273552" y="3694176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/ Vercel / Railway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6336792" y="3694176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/ ~₹950 / mo</a:t>
            </a:r>
            <a:endParaRPr lang="en-US" sz="1250" dirty="0"/>
          </a:p>
        </p:txBody>
      </p:sp>
      <p:sp>
        <p:nvSpPr>
          <p:cNvPr id="38" name="Text 32"/>
          <p:cNvSpPr/>
          <p:nvPr/>
        </p:nvSpPr>
        <p:spPr>
          <a:xfrm>
            <a:off x="8302752" y="3694176"/>
            <a:ext cx="3310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Python/FastAPI server &amp; agent workflows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502920" y="4352544"/>
            <a:ext cx="11155680" cy="658368"/>
          </a:xfrm>
          <a:prstGeom prst="rect">
            <a:avLst/>
          </a:prstGeom>
          <a:solidFill>
            <a:srgbClr val="242C6E"/>
          </a:solidFill>
          <a:ln/>
        </p:spPr>
      </p:sp>
      <p:sp>
        <p:nvSpPr>
          <p:cNvPr id="40" name="Shape 34"/>
          <p:cNvSpPr/>
          <p:nvPr/>
        </p:nvSpPr>
        <p:spPr>
          <a:xfrm>
            <a:off x="594360" y="448056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1" name="Image 4" descr="icons/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664" y="4532864"/>
            <a:ext cx="297729" cy="297729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1097280" y="4348065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Vector Store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3273552" y="435254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/ PostgreSQL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6336792" y="4352544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250" dirty="0"/>
          </a:p>
        </p:txBody>
      </p:sp>
      <p:sp>
        <p:nvSpPr>
          <p:cNvPr id="45" name="Text 38"/>
          <p:cNvSpPr/>
          <p:nvPr/>
        </p:nvSpPr>
        <p:spPr>
          <a:xfrm>
            <a:off x="8302752" y="4352544"/>
            <a:ext cx="3310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vendor quotes, contract files, and logs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502920" y="5175504"/>
            <a:ext cx="11155680" cy="658368"/>
          </a:xfrm>
          <a:prstGeom prst="roundRect">
            <a:avLst>
              <a:gd name="adj" fmla="val 11111"/>
            </a:avLst>
          </a:prstGeom>
          <a:solidFill>
            <a:srgbClr val="C9A227"/>
          </a:solidFill>
          <a:ln/>
        </p:spPr>
      </p:sp>
      <p:sp>
        <p:nvSpPr>
          <p:cNvPr id="47" name="Text 40"/>
          <p:cNvSpPr/>
          <p:nvPr/>
        </p:nvSpPr>
        <p:spPr>
          <a:xfrm>
            <a:off x="777240" y="517550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51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OPERATING COST</a:t>
            </a:r>
            <a:endParaRPr lang="en-US" sz="1300" dirty="0"/>
          </a:p>
        </p:txBody>
      </p:sp>
      <p:sp>
        <p:nvSpPr>
          <p:cNvPr id="48" name="Text 41"/>
          <p:cNvSpPr/>
          <p:nvPr/>
        </p:nvSpPr>
        <p:spPr>
          <a:xfrm>
            <a:off x="4983480" y="517550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1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₹2,850 – ₹6,700 / month</a:t>
            </a:r>
            <a:endParaRPr lang="en-US" sz="1800" dirty="0"/>
          </a:p>
        </p:txBody>
      </p:sp>
      <p:sp>
        <p:nvSpPr>
          <p:cNvPr id="49" name="Text 42"/>
          <p:cNvSpPr/>
          <p:nvPr/>
        </p:nvSpPr>
        <p:spPr>
          <a:xfrm>
            <a:off x="8823960" y="517550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51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cost: ~₹55 – ₹115 / deal</a:t>
            </a:r>
            <a:endParaRPr lang="en-US" sz="1150" dirty="0"/>
          </a:p>
        </p:txBody>
      </p:sp>
      <p:sp>
        <p:nvSpPr>
          <p:cNvPr id="50" name="Text 43"/>
          <p:cNvSpPr/>
          <p:nvPr/>
        </p:nvSpPr>
        <p:spPr>
          <a:xfrm>
            <a:off x="502920" y="592531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ceilings apply at low volume; figures reflect published vendor pricing as of 2026 and scale with deal throughput.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508</Words>
  <Application>Microsoft Office PowerPoint</Application>
  <PresentationFormat>Widescreen</PresentationFormat>
  <Paragraphs>77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Devendra Shrote</cp:lastModifiedBy>
  <cp:revision>4</cp:revision>
  <dcterms:created xsi:type="dcterms:W3CDTF">2026-08-01T16:06:47Z</dcterms:created>
  <dcterms:modified xsi:type="dcterms:W3CDTF">2026-08-01T16:21:20Z</dcterms:modified>
</cp:coreProperties>
</file>